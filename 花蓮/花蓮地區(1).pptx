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87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21D14-EC95-4E5F-9139-AB73F2AD64D4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E99BF4-CCDA-4483-91BD-E5F313F9081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6026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投影片圖像版面配置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備忘稿版面配置區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/>
          </a:p>
        </p:txBody>
      </p:sp>
      <p:sp>
        <p:nvSpPr>
          <p:cNvPr id="35844" name="投影片編號版面配置區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AE36D0-1B2F-41BA-B022-51C57561FE0B}" type="slidenum">
              <a:rPr kumimoji="0" lang="zh-TW" alt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新細明體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altLang="zh-TW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新細明體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4074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0136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2568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4222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4454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6124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0791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7463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1259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5192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6461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BD1D6-D52A-4D41-A894-4910E637779A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7545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5E856B-4AC6-4669-8DCE-858B3EDEEC92}" type="datetimeFigureOut">
              <a:rPr lang="zh-TW" altLang="en-US" smtClean="0"/>
              <a:t>2026/6/10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89452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5E856B-4AC6-4669-8DCE-858B3EDEEC92}" type="datetimeFigureOut">
              <a:rPr lang="zh-TW" altLang="en-US" smtClean="0"/>
              <a:t>2026/6/10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91998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3164141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1625600" y="1173163"/>
            <a:ext cx="9702800" cy="4927600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364153296"/>
      </p:ext>
    </p:extLst>
  </p:cSld>
  <p:clrMapOvr>
    <a:masterClrMapping/>
  </p:clrMapOvr>
  <p:transition advClick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BD1D6-D52A-4D41-A894-4910E637779A}" type="datetimeFigureOut">
              <a:rPr lang="zh-TW" altLang="en-US" smtClean="0"/>
              <a:t>2026/6/10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5E1E4-830F-4B0A-9574-0C516B00AF4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0416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0">
            <a:extLst>
              <a:ext uri="{FF2B5EF4-FFF2-40B4-BE49-F238E27FC236}">
                <a16:creationId xmlns:a16="http://schemas.microsoft.com/office/drawing/2014/main" id="{250EEA5F-EAEE-46DF-B622-E91550EA9E0A}"/>
              </a:ext>
            </a:extLst>
          </p:cNvPr>
          <p:cNvSpPr txBox="1">
            <a:spLocks/>
          </p:cNvSpPr>
          <p:nvPr/>
        </p:nvSpPr>
        <p:spPr>
          <a:xfrm>
            <a:off x="310285" y="165018"/>
            <a:ext cx="6172200" cy="479822"/>
          </a:xfrm>
          <a:solidFill>
            <a:schemeClr val="tx2">
              <a:lumMod val="60000"/>
              <a:lumOff val="40000"/>
            </a:schemeClr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571500" algn="l"/>
              </a:tabLst>
              <a:defRPr/>
            </a:pPr>
            <a:r>
              <a:rPr kumimoji="0" lang="en-US" altLang="zh-TW" sz="27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新造新" panose="020B0609010101010101" pitchFamily="49" charset="-120"/>
              </a:rPr>
              <a:t>(</a:t>
            </a:r>
            <a:r>
              <a:rPr kumimoji="0" lang="zh-TW" altLang="en-US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新造新" panose="020B0609010101010101" pitchFamily="49" charset="-120"/>
              </a:rPr>
              <a:t>花蓮與吉安</a:t>
            </a:r>
            <a:r>
              <a:rPr kumimoji="0" lang="en-US" altLang="zh-TW" sz="27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新造新" panose="020B0609010101010101" pitchFamily="49" charset="-120"/>
              </a:rPr>
              <a:t>)</a:t>
            </a:r>
            <a:endParaRPr kumimoji="0" lang="zh-TW" altLang="en-US" sz="27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新造新" panose="020B0609010101010101" pitchFamily="49" charset="-120"/>
            </a:endParaRPr>
          </a:p>
        </p:txBody>
      </p:sp>
      <p:graphicFrame>
        <p:nvGraphicFramePr>
          <p:cNvPr id="5" name="Group 1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262368"/>
              </p:ext>
            </p:extLst>
          </p:nvPr>
        </p:nvGraphicFramePr>
        <p:xfrm>
          <a:off x="310284" y="572334"/>
          <a:ext cx="11714076" cy="5830647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508707">
                  <a:extLst>
                    <a:ext uri="{9D8B030D-6E8A-4147-A177-3AD203B41FA5}">
                      <a16:colId xmlns:a16="http://schemas.microsoft.com/office/drawing/2014/main" val="462600346"/>
                    </a:ext>
                  </a:extLst>
                </a:gridCol>
                <a:gridCol w="634905">
                  <a:extLst>
                    <a:ext uri="{9D8B030D-6E8A-4147-A177-3AD203B41FA5}">
                      <a16:colId xmlns:a16="http://schemas.microsoft.com/office/drawing/2014/main" val="3488823732"/>
                    </a:ext>
                  </a:extLst>
                </a:gridCol>
                <a:gridCol w="651860">
                  <a:extLst>
                    <a:ext uri="{9D8B030D-6E8A-4147-A177-3AD203B41FA5}">
                      <a16:colId xmlns:a16="http://schemas.microsoft.com/office/drawing/2014/main" val="2681745499"/>
                    </a:ext>
                  </a:extLst>
                </a:gridCol>
                <a:gridCol w="1396757">
                  <a:extLst>
                    <a:ext uri="{9D8B030D-6E8A-4147-A177-3AD203B41FA5}">
                      <a16:colId xmlns:a16="http://schemas.microsoft.com/office/drawing/2014/main" val="805301024"/>
                    </a:ext>
                  </a:extLst>
                </a:gridCol>
                <a:gridCol w="1375745">
                  <a:extLst>
                    <a:ext uri="{9D8B030D-6E8A-4147-A177-3AD203B41FA5}">
                      <a16:colId xmlns:a16="http://schemas.microsoft.com/office/drawing/2014/main" val="1635948814"/>
                    </a:ext>
                  </a:extLst>
                </a:gridCol>
                <a:gridCol w="1479794">
                  <a:extLst>
                    <a:ext uri="{9D8B030D-6E8A-4147-A177-3AD203B41FA5}">
                      <a16:colId xmlns:a16="http://schemas.microsoft.com/office/drawing/2014/main" val="2716375029"/>
                    </a:ext>
                  </a:extLst>
                </a:gridCol>
                <a:gridCol w="1416577">
                  <a:extLst>
                    <a:ext uri="{9D8B030D-6E8A-4147-A177-3AD203B41FA5}">
                      <a16:colId xmlns:a16="http://schemas.microsoft.com/office/drawing/2014/main" val="2835601013"/>
                    </a:ext>
                  </a:extLst>
                </a:gridCol>
                <a:gridCol w="1416577">
                  <a:extLst>
                    <a:ext uri="{9D8B030D-6E8A-4147-A177-3AD203B41FA5}">
                      <a16:colId xmlns:a16="http://schemas.microsoft.com/office/drawing/2014/main" val="313055658"/>
                    </a:ext>
                  </a:extLst>
                </a:gridCol>
                <a:gridCol w="1416577">
                  <a:extLst>
                    <a:ext uri="{9D8B030D-6E8A-4147-A177-3AD203B41FA5}">
                      <a16:colId xmlns:a16="http://schemas.microsoft.com/office/drawing/2014/main" val="2458911595"/>
                    </a:ext>
                  </a:extLst>
                </a:gridCol>
                <a:gridCol w="1416577">
                  <a:extLst>
                    <a:ext uri="{9D8B030D-6E8A-4147-A177-3AD203B41FA5}">
                      <a16:colId xmlns:a16="http://schemas.microsoft.com/office/drawing/2014/main" val="2432965617"/>
                    </a:ext>
                  </a:extLst>
                </a:gridCol>
              </a:tblGrid>
              <a:tr h="639504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設備項目</a:t>
                      </a:r>
                      <a:r>
                        <a:rPr kumimoji="1" lang="en-US" altLang="zh-TW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//</a:t>
                      </a: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廠別   </a:t>
                      </a:r>
                      <a:endParaRPr kumimoji="1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亞東</a:t>
                      </a:r>
                      <a:endParaRPr kumimoji="1" lang="en-US" altLang="zh-TW" sz="1800" b="1" u="none" strike="noStrike" cap="none" normalizeH="0" baseline="0" dirty="0">
                        <a:ln>
                          <a:noFill/>
                        </a:ln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美崙廠</a:t>
                      </a:r>
                      <a:endParaRPr kumimoji="1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台泥</a:t>
                      </a:r>
                      <a:endParaRPr kumimoji="1" lang="en-US" altLang="zh-TW" sz="1800" b="1" u="none" strike="noStrike" cap="none" normalizeH="0" baseline="0" dirty="0">
                        <a:ln>
                          <a:noFill/>
                        </a:ln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花蓮廠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鳳勝</a:t>
                      </a:r>
                      <a:endParaRPr kumimoji="1" lang="en-US" altLang="zh-TW" sz="1800" b="1" u="none" strike="noStrike" cap="none" normalizeH="0" baseline="0" dirty="0">
                        <a:ln>
                          <a:noFill/>
                        </a:ln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花蓮廠</a:t>
                      </a:r>
                      <a:endParaRPr kumimoji="1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友正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吉安廠</a:t>
                      </a:r>
                      <a:r>
                        <a:rPr kumimoji="1" lang="en-US" altLang="zh-TW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endParaRPr kumimoji="1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長雄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吉安廠</a:t>
                      </a:r>
                      <a:r>
                        <a:rPr kumimoji="1" lang="en-US" altLang="zh-TW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endParaRPr kumimoji="1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定穎</a:t>
                      </a:r>
                      <a:endParaRPr kumimoji="1" lang="en-US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吉安廠</a:t>
                      </a:r>
                      <a:r>
                        <a:rPr kumimoji="1" lang="en-US" altLang="zh-TW" sz="18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endParaRPr kumimoji="1" lang="zh-TW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花建實業</a:t>
                      </a:r>
                      <a:endParaRPr kumimoji="1" lang="en-US" altLang="zh-TW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鳳林廠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3905213682"/>
                  </a:ext>
                </a:extLst>
              </a:tr>
              <a:tr h="424323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u="none" strike="noStrike" cap="none" normalizeH="0" baseline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設備 </a:t>
                      </a:r>
                      <a:r>
                        <a:rPr kumimoji="1" lang="en-US" altLang="zh-TW" sz="1700" b="1" u="none" strike="noStrike" cap="none" normalizeH="0" baseline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(</a:t>
                      </a:r>
                      <a:r>
                        <a:rPr kumimoji="1" lang="zh-TW" altLang="en-US" sz="1700" b="1" u="none" strike="noStrike" cap="none" normalizeH="0" baseline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套</a:t>
                      </a:r>
                      <a:r>
                        <a:rPr kumimoji="1" lang="en-US" altLang="zh-TW" sz="1700" b="1" u="none" strike="noStrike" cap="none" normalizeH="0" baseline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)</a:t>
                      </a:r>
                      <a:endParaRPr kumimoji="1" lang="en-US" altLang="zh-TW" sz="17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m</a:t>
                      </a:r>
                      <a:r>
                        <a:rPr kumimoji="1" lang="en-US" altLang="zh-TW" sz="1500" b="1" u="none" strike="noStrike" cap="none" normalizeH="0" baseline="3000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</a:t>
                      </a: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× 1</a:t>
                      </a:r>
                      <a:endParaRPr kumimoji="1" lang="en-US" altLang="zh-TW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Arial Unicode MS" pitchFamily="34" charset="-120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m</a:t>
                      </a:r>
                      <a:r>
                        <a:rPr kumimoji="1" lang="en-US" altLang="zh-TW" sz="1500" b="1" u="none" strike="noStrike" cap="none" normalizeH="0" baseline="3000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</a:t>
                      </a: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× 1</a:t>
                      </a:r>
                      <a:endParaRPr kumimoji="1" lang="en-US" altLang="zh-TW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Arial Unicode MS" pitchFamily="34" charset="-120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r>
                        <a:rPr kumimoji="1" lang="zh-TW" altLang="en-US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</a:t>
                      </a:r>
                      <a:r>
                        <a:rPr kumimoji="1" lang="en-US" altLang="zh-TW" sz="1500" b="1" u="none" strike="noStrike" cap="none" normalizeH="0" baseline="3000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</a:t>
                      </a: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× 1 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m</a:t>
                      </a:r>
                      <a:r>
                        <a:rPr kumimoji="1" lang="en-US" altLang="zh-TW" sz="1500" b="1" u="none" strike="noStrike" cap="none" normalizeH="0" baseline="3000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</a:t>
                      </a: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× 2</a:t>
                      </a:r>
                      <a:endParaRPr kumimoji="1" lang="en-US" altLang="zh-TW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Arial Unicode MS" pitchFamily="34" charset="-120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m</a:t>
                      </a:r>
                      <a:r>
                        <a:rPr kumimoji="1" lang="en-US" altLang="zh-TW" sz="1500" b="1" u="none" strike="noStrike" cap="none" normalizeH="0" baseline="3000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</a:t>
                      </a: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× 1</a:t>
                      </a:r>
                      <a:endParaRPr kumimoji="1" lang="en-US" altLang="zh-TW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Arial Unicode MS" pitchFamily="34" charset="-120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 m3 × 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m</a:t>
                      </a:r>
                      <a:r>
                        <a:rPr kumimoji="1" lang="en-US" altLang="zh-TW" sz="1500" b="1" u="none" strike="noStrike" cap="none" normalizeH="0" baseline="3000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 </a:t>
                      </a: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× 1</a:t>
                      </a:r>
                      <a:endParaRPr kumimoji="1" lang="en-US" altLang="zh-TW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Arial Unicode MS" pitchFamily="34" charset="-120"/>
                      </a:endParaRP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1193419023"/>
                  </a:ext>
                </a:extLst>
              </a:tr>
              <a:tr h="328740">
                <a:tc grid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設計產能</a:t>
                      </a:r>
                      <a:r>
                        <a:rPr kumimoji="1" lang="en-US" altLang="zh-TW" sz="17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(</a:t>
                      </a:r>
                      <a:r>
                        <a:rPr kumimoji="1" lang="en-US" altLang="zh-TW" sz="15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m</a:t>
                      </a:r>
                      <a:r>
                        <a:rPr kumimoji="1" lang="en-US" altLang="zh-TW" sz="1500" b="1" u="none" strike="noStrike" cap="none" normalizeH="0" baseline="3000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3</a:t>
                      </a:r>
                      <a:r>
                        <a:rPr kumimoji="1" lang="en-US" altLang="zh-TW" sz="1700" b="1" u="none" strike="noStrike" cap="none" normalizeH="0" baseline="3000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 </a:t>
                      </a:r>
                      <a:r>
                        <a:rPr kumimoji="1" lang="en-US" altLang="zh-TW" sz="17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/</a:t>
                      </a:r>
                      <a:r>
                        <a:rPr kumimoji="1" lang="en-US" altLang="zh-TW" sz="1700" b="1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hr</a:t>
                      </a:r>
                      <a:r>
                        <a:rPr kumimoji="1" lang="en-US" altLang="zh-TW" sz="17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)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140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140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130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270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140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80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120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3653864738"/>
                  </a:ext>
                </a:extLst>
              </a:tr>
              <a:tr h="328740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114</a:t>
                      </a: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年銷售量</a:t>
                      </a: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(</a:t>
                      </a: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米</a:t>
                      </a: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)</a:t>
                      </a:r>
                    </a:p>
                  </a:txBody>
                  <a:tcPr marL="36000" marR="36000" marT="18000" marB="18000" anchor="ctr" horzOverflow="overflow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63931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(</a:t>
                      </a:r>
                      <a:r>
                        <a:rPr kumimoji="1" lang="zh-TW" alt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鳯勝代工</a:t>
                      </a: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)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70000+44728(</a:t>
                      </a:r>
                      <a:r>
                        <a:rPr kumimoji="1" lang="zh-TW" altLang="en-US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代工</a:t>
                      </a:r>
                      <a:r>
                        <a:rPr kumimoji="1" lang="en-US" altLang="zh-TW" sz="15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)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100000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100000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30000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60000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2172270918"/>
                  </a:ext>
                </a:extLst>
              </a:tr>
              <a:tr h="328740">
                <a:tc rowSpan="1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人力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現況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生產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操作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1pPr>
                      <a:lvl2pPr marL="471488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2pPr>
                      <a:lvl3pPr marL="909638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3pPr>
                      <a:lvl4pPr marL="1306513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4pPr>
                      <a:lvl5pPr marL="169545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5pPr>
                      <a:lvl6pPr marL="21526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6pPr>
                      <a:lvl7pPr marL="26098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7pPr>
                      <a:lvl8pPr marL="30670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8pPr>
                      <a:lvl9pPr marL="352425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4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1375379359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FED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r>
                        <a:rPr kumimoji="1" lang="zh-TW" altLang="en-US" sz="17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機修</a:t>
                      </a:r>
                      <a:endParaRPr lang="zh-TW" altLang="en-US"/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1436332388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r>
                        <a:rPr kumimoji="1" lang="zh-TW" altLang="en-US" sz="17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移工</a:t>
                      </a:r>
                      <a:endParaRPr lang="zh-TW" altLang="en-US"/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5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4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2115925440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r>
                        <a:rPr kumimoji="1" lang="zh-TW" altLang="en-US" sz="1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小計</a:t>
                      </a:r>
                      <a:endParaRPr lang="zh-TW" altLang="en-US" dirty="0"/>
                    </a:p>
                  </a:txBody>
                  <a:tcPr marL="36000" marR="36000" marT="18000" marB="1800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4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7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4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8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71074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業務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269708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品管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品管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5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243216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r>
                        <a:rPr kumimoji="1" lang="zh-TW" altLang="en-US" sz="17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移工</a:t>
                      </a:r>
                      <a:endParaRPr lang="zh-TW" altLang="en-US"/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245644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r>
                        <a:rPr kumimoji="1" lang="zh-TW" altLang="en-US" sz="17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小計</a:t>
                      </a:r>
                      <a:endParaRPr lang="zh-TW" altLang="en-US" dirty="0"/>
                    </a:p>
                  </a:txBody>
                  <a:tcPr marL="36000" marR="36000" marT="18000" marB="18000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4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4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5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657068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調度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3551911789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車管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0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781942604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 marL="36000" marR="36000" marT="18000" marB="1800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FED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管理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3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2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</a:t>
                      </a:r>
                    </a:p>
                  </a:txBody>
                  <a:tcPr marL="36000" marR="36000" marT="18000" marB="18000" anchor="ctr" horzOverflow="overflow"/>
                </a:tc>
                <a:extLst>
                  <a:ext uri="{0D108BD9-81ED-4DB2-BD59-A6C34878D82A}">
                    <a16:rowId xmlns:a16="http://schemas.microsoft.com/office/drawing/2014/main" val="2709716713"/>
                  </a:ext>
                </a:extLst>
              </a:tr>
              <a:tr h="32874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TW" altLang="en-US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合計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11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10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12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17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13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9</a:t>
                      </a: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7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Arial Unicode MS" pitchFamily="34" charset="-120"/>
                        </a:rPr>
                        <a:t>16</a:t>
                      </a:r>
                      <a:endParaRPr kumimoji="1" lang="en-US" altLang="zh-TW" sz="17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Arial Unicode MS" pitchFamily="34" charset="-120"/>
                      </a:endParaRPr>
                    </a:p>
                  </a:txBody>
                  <a:tcPr marL="36000" marR="36000" marT="18000" marB="18000" anchor="ctr" horzOverflow="overflow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467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977447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217</Words>
  <Application>Microsoft Office PowerPoint</Application>
  <PresentationFormat>寬螢幕</PresentationFormat>
  <Paragraphs>141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Microsoft YaHei</vt:lpstr>
      <vt:lpstr>微軟正黑體</vt:lpstr>
      <vt:lpstr>Arial</vt:lpstr>
      <vt:lpstr>Calibri</vt:lpstr>
      <vt:lpstr>Calibri Light</vt:lpstr>
      <vt:lpstr>1_Office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劉建邦襄理</dc:creator>
  <cp:lastModifiedBy>劉建邦襄理</cp:lastModifiedBy>
  <cp:revision>23</cp:revision>
  <dcterms:created xsi:type="dcterms:W3CDTF">2026-06-04T05:40:21Z</dcterms:created>
  <dcterms:modified xsi:type="dcterms:W3CDTF">2026-06-10T07:44:14Z</dcterms:modified>
</cp:coreProperties>
</file>